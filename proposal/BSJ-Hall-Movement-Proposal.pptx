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61520" cy="6858000"/>
  <p:notesSz cx="6858000" cy="1216152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bsj-hostel-demo.vercel.app" TargetMode="External"/><Relationship Id="rId3" Type="http://schemas.openxmlformats.org/officeDocument/2006/relationships/hyperlink" Target="https://bsj-hostel-demo.vercel.app" TargetMode="External"/><Relationship Id="rId2" Type="http://schemas.openxmlformats.org/officeDocument/2006/relationships/image" Target="../media/image-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hyperlink" Target="https://bsj-hostel-demo.vercel.app/outing" TargetMode="Externa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hyperlink" Target="https://bsj-hostel-demo.vercel.app/return" TargetMode="Externa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hyperlink" Target="https://bsj-hostel-demo.vercel.app/permission" TargetMode="External"/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hyperlink" Target="https://bsj-hostel-demo.vercel.app/gate" TargetMode="External"/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hyperlink" Target="https://bsj-hostel-demo.vercel.app/warden" TargetMode="Externa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051560"/>
            <a:ext cx="6766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Begum Sultan Jahan Hall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02920" y="1719072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Aligarh Muslim University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02920" y="22860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Hostel Management App Proposal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02920" y="3063240"/>
            <a:ext cx="6766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A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3401568"/>
            <a:ext cx="1444752" cy="365760"/>
          </a:xfrm>
          <a:prstGeom prst="roundRect">
            <a:avLst>
              <a:gd name="adj" fmla="val 45000"/>
            </a:avLst>
          </a:prstGeom>
          <a:solidFill>
            <a:srgbClr val="1A2C24"/>
          </a:solidFill>
          <a:ln w="13970">
            <a:solidFill>
              <a:srgbClr val="A684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40156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075688" y="3401568"/>
            <a:ext cx="1444752" cy="365760"/>
          </a:xfrm>
          <a:prstGeom prst="roundRect">
            <a:avLst>
              <a:gd name="adj" fmla="val 45000"/>
            </a:avLst>
          </a:prstGeom>
          <a:solidFill>
            <a:srgbClr val="1A2C24"/>
          </a:solidFill>
          <a:ln w="13970">
            <a:solidFill>
              <a:srgbClr val="A684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75688" y="340156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48456" y="3401568"/>
            <a:ext cx="1444752" cy="365760"/>
          </a:xfrm>
          <a:prstGeom prst="roundRect">
            <a:avLst>
              <a:gd name="adj" fmla="val 45000"/>
            </a:avLst>
          </a:prstGeom>
          <a:solidFill>
            <a:srgbClr val="1A2C24"/>
          </a:solidFill>
          <a:ln w="13970">
            <a:solidFill>
              <a:srgbClr val="A684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48456" y="340156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staff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221224" y="3401568"/>
            <a:ext cx="1444752" cy="365760"/>
          </a:xfrm>
          <a:prstGeom prst="roundRect">
            <a:avLst>
              <a:gd name="adj" fmla="val 45000"/>
            </a:avLst>
          </a:prstGeom>
          <a:solidFill>
            <a:srgbClr val="1A2C24"/>
          </a:solidFill>
          <a:ln w="13970">
            <a:solidFill>
              <a:srgbClr val="A684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1224" y="340156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Provost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02920" y="3913632"/>
            <a:ext cx="6766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a demo</a:t>
            </a:r>
            <a:endParaRPr lang="en-US" sz="1300" dirty="0"/>
          </a:p>
        </p:txBody>
      </p:sp>
      <p:sp>
        <p:nvSpPr>
          <p:cNvPr id="15" name="Text 13">
            <a:hlinkClick r:id="rId1" tooltip=""/>
          </p:cNvPr>
          <p:cNvSpPr/>
          <p:nvPr/>
        </p:nvSpPr>
        <p:spPr>
          <a:xfrm>
            <a:off x="502920" y="413308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u="sng" dirty="0">
                <a:solidFill>
                  <a:srgbClr val="D7C4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bsj-hostel-demo.vercel.app</a:t>
            </a:r>
            <a:endParaRPr lang="en-US" sz="1600" dirty="0"/>
          </a:p>
        </p:txBody>
      </p:sp>
      <p:pic>
        <p:nvPicPr>
          <p:cNvPr id="16" name="Image 0" descr="/Users/abu/Desktop/Coding/bsj-hostel-management/proposal/phones/wf1-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502920"/>
            <a:ext cx="2759231" cy="5806440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7" name="Text 14"/>
          <p:cNvSpPr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18" name="Text 15">
            <a:hlinkClick r:id="rId3" tooltip=""/>
          </p:cNvPr>
          <p:cNvSpPr/>
          <p:nvPr/>
        </p:nvSpPr>
        <p:spPr>
          <a:xfrm>
            <a:off x="46634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D7C4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bsj-hostel-demo.vercel.app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11480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case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143000"/>
            <a:ext cx="5394960" cy="4572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14261F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143000"/>
            <a:ext cx="91440" cy="457200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173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1965960"/>
            <a:ext cx="46634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Movement is a paper register at the gate.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126480" y="1143000"/>
            <a:ext cx="5394960" cy="4572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14261F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26480" y="1143000"/>
            <a:ext cx="91440" cy="457200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417320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app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537960" y="1993392"/>
            <a:ext cx="146304" cy="146304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1" name="Text 9"/>
          <p:cNvSpPr/>
          <p:nvPr/>
        </p:nvSpPr>
        <p:spPr>
          <a:xfrm>
            <a:off x="6830568" y="192024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and admins check in and check out from one app.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37960" y="2816352"/>
            <a:ext cx="146304" cy="146304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3" name="Text 11"/>
          <p:cNvSpPr/>
          <p:nvPr/>
        </p:nvSpPr>
        <p:spPr>
          <a:xfrm>
            <a:off x="6830568" y="274320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Residents request special permission.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37960" y="3639312"/>
            <a:ext cx="146304" cy="146304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5" name="Text 13"/>
          <p:cNvSpPr/>
          <p:nvPr/>
        </p:nvSpPr>
        <p:spPr>
          <a:xfrm>
            <a:off x="6830568" y="356616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Wardens approve special permission.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37960" y="4462272"/>
            <a:ext cx="146304" cy="146304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7" name="Text 15"/>
          <p:cNvSpPr/>
          <p:nvPr/>
        </p:nvSpPr>
        <p:spPr>
          <a:xfrm>
            <a:off x="6830568" y="4389120"/>
            <a:ext cx="4297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are notified if a resident is late.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589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hall pass works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768096"/>
            <a:ext cx="7589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5C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resident has a hall pass on the phone: a QR code. At the gate, staff scan this hall pass. The app already knows whether that resident is inside the hall or outside.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7589520" cy="1874520"/>
          </a:xfrm>
          <a:prstGeom prst="roundRect">
            <a:avLst>
              <a:gd name="adj" fmla="val 5854"/>
            </a:avLst>
          </a:prstGeom>
          <a:solidFill>
            <a:srgbClr val="13201A"/>
          </a:solidFill>
          <a:ln/>
        </p:spPr>
      </p:sp>
      <p:sp>
        <p:nvSpPr>
          <p:cNvPr id="5" name="Text 3"/>
          <p:cNvSpPr/>
          <p:nvPr/>
        </p:nvSpPr>
        <p:spPr>
          <a:xfrm>
            <a:off x="795528" y="1984248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C4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resident is inside the hall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95528" y="2404872"/>
            <a:ext cx="6995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5C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resident shows the hall pass. Gate staff scan it. The app records that the resident has gone out. Destination and return time were already set in the app.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02920" y="3794760"/>
            <a:ext cx="7589520" cy="1874520"/>
          </a:xfrm>
          <a:prstGeom prst="roundRect">
            <a:avLst>
              <a:gd name="adj" fmla="val 5854"/>
            </a:avLst>
          </a:prstGeom>
          <a:solidFill>
            <a:srgbClr val="13201A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3995928"/>
            <a:ext cx="6995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7C4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the resident is outside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95528" y="4416552"/>
            <a:ext cx="6995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5C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resident shows the same hall pass. Gate staff scan it. The app records that the resident has come back. Nothing extra to fill in.</a:t>
            </a:r>
            <a:endParaRPr lang="en-US" sz="1500" dirty="0"/>
          </a:p>
        </p:txBody>
      </p:sp>
      <p:pic>
        <p:nvPicPr>
          <p:cNvPr id="10" name="Image 0" descr="/Users/abu/Desktop/Coding/bsj-hostel-management/proposal/phones/wf1-q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80" y="502920"/>
            <a:ext cx="2759231" cy="5806440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1" name="Text 8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everyone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51560"/>
            <a:ext cx="5440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14261F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02920" y="1051560"/>
            <a:ext cx="91440" cy="228600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371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68680" y="19659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an outing, requests special permission, and shows the hall pass at the gate.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26480" y="1051560"/>
            <a:ext cx="5440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14261F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126480" y="1051560"/>
            <a:ext cx="91440" cy="228600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137160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Warden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492240" y="19659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who is inside, outside, or late. Approves or rejects special permission.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3520440"/>
            <a:ext cx="5440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14261F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" y="3520440"/>
            <a:ext cx="91440" cy="228600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3840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Gate staff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68680" y="443484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the resident hall pass. The app records exit or return.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26480" y="3520440"/>
            <a:ext cx="544068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52400" dist="38100" dir="8100000">
              <a:srgbClr val="14261F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3520440"/>
            <a:ext cx="91440" cy="2286000"/>
          </a:xfrm>
          <a:prstGeom prst="rect">
            <a:avLst/>
          </a:prstGeom>
          <a:solidFill>
            <a:srgbClr val="1F4D3A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384048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Provost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492240" y="443484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whole hall. Can export the register.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1. Normal outing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004614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04614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5" name="Text 3"/>
          <p:cNvSpPr/>
          <p:nvPr/>
        </p:nvSpPr>
        <p:spPr>
          <a:xfrm>
            <a:off x="2004614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97222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destination and return time.</a:t>
            </a:r>
            <a:endParaRPr lang="en-US" sz="1200" dirty="0"/>
          </a:p>
        </p:txBody>
      </p:sp>
      <p:pic>
        <p:nvPicPr>
          <p:cNvPr id="7" name="Image 0" descr="/Users/abu/Desktop/Coding/bsj-hostel-management/proposal/phones/wf1-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614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4102123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02123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0" name="Text 7"/>
          <p:cNvSpPr/>
          <p:nvPr/>
        </p:nvSpPr>
        <p:spPr>
          <a:xfrm>
            <a:off x="4102123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394731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hall pass at the gate.</a:t>
            </a:r>
            <a:endParaRPr lang="en-US" sz="1200" dirty="0"/>
          </a:p>
        </p:txBody>
      </p:sp>
      <p:pic>
        <p:nvPicPr>
          <p:cNvPr id="12" name="Image 1" descr="/Users/abu/Desktop/Coding/bsj-hostel-management/proposal/phones/wf1-q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123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3" name="Text 9"/>
          <p:cNvSpPr/>
          <p:nvPr/>
        </p:nvSpPr>
        <p:spPr>
          <a:xfrm>
            <a:off x="6199632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staff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99632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5" name="Text 11"/>
          <p:cNvSpPr/>
          <p:nvPr/>
        </p:nvSpPr>
        <p:spPr>
          <a:xfrm>
            <a:off x="6199632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92240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the hall pass.</a:t>
            </a:r>
            <a:endParaRPr lang="en-US" sz="1200" dirty="0"/>
          </a:p>
        </p:txBody>
      </p:sp>
      <p:pic>
        <p:nvPicPr>
          <p:cNvPr id="17" name="Image 2" descr="/Users/abu/Desktop/Coding/bsj-hostel-management/proposal/phones/wf4-scann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8" name="Text 13"/>
          <p:cNvSpPr/>
          <p:nvPr/>
        </p:nvSpPr>
        <p:spPr>
          <a:xfrm>
            <a:off x="8297141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297141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20" name="Text 15"/>
          <p:cNvSpPr/>
          <p:nvPr/>
        </p:nvSpPr>
        <p:spPr>
          <a:xfrm>
            <a:off x="8297141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589749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Exit is recorded.</a:t>
            </a:r>
            <a:endParaRPr lang="en-US" sz="1200" dirty="0"/>
          </a:p>
        </p:txBody>
      </p:sp>
      <p:pic>
        <p:nvPicPr>
          <p:cNvPr id="22" name="Image 3" descr="/Users/abu/Desktop/Coding/bsj-hostel-management/proposal/phones/wf1-ex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7141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23" name="Text 17"/>
          <p:cNvSpPr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24" name="Text 18">
            <a:hlinkClick r:id="rId5" tooltip=""/>
          </p:cNvPr>
          <p:cNvSpPr/>
          <p:nvPr/>
        </p:nvSpPr>
        <p:spPr>
          <a:xfrm>
            <a:off x="46634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https://bsj-hostel-demo.vercel.app/outing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2. A resident comes back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004614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04614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5" name="Text 3"/>
          <p:cNvSpPr/>
          <p:nvPr/>
        </p:nvSpPr>
        <p:spPr>
          <a:xfrm>
            <a:off x="2004614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97222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same hall pass.</a:t>
            </a:r>
            <a:endParaRPr lang="en-US" sz="1200" dirty="0"/>
          </a:p>
        </p:txBody>
      </p:sp>
      <p:pic>
        <p:nvPicPr>
          <p:cNvPr id="7" name="Image 0" descr="/Users/abu/Desktop/Coding/bsj-hostel-management/proposal/phones/wf2-outs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614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4102123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staff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02123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0" name="Text 7"/>
          <p:cNvSpPr/>
          <p:nvPr/>
        </p:nvSpPr>
        <p:spPr>
          <a:xfrm>
            <a:off x="4102123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394731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it. Return is recorded.</a:t>
            </a:r>
            <a:endParaRPr lang="en-US" sz="1200" dirty="0"/>
          </a:p>
        </p:txBody>
      </p:sp>
      <p:pic>
        <p:nvPicPr>
          <p:cNvPr id="12" name="Image 1" descr="/Users/abu/Desktop/Coding/bsj-hostel-management/proposal/phones/wf2-retur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123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3" name="Text 9"/>
          <p:cNvSpPr/>
          <p:nvPr/>
        </p:nvSpPr>
        <p:spPr>
          <a:xfrm>
            <a:off x="6199632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99632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5" name="Text 11"/>
          <p:cNvSpPr/>
          <p:nvPr/>
        </p:nvSpPr>
        <p:spPr>
          <a:xfrm>
            <a:off x="6199632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92240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late, the warden sees the late list.</a:t>
            </a:r>
            <a:endParaRPr lang="en-US" sz="1200" dirty="0"/>
          </a:p>
        </p:txBody>
      </p:sp>
      <p:pic>
        <p:nvPicPr>
          <p:cNvPr id="17" name="Image 2" descr="/Users/abu/Desktop/Coding/bsj-hostel-management/proposal/phones/wf2-l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8" name="Text 13"/>
          <p:cNvSpPr/>
          <p:nvPr/>
        </p:nvSpPr>
        <p:spPr>
          <a:xfrm>
            <a:off x="8297141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phone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297141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20" name="Text 15"/>
          <p:cNvSpPr/>
          <p:nvPr/>
        </p:nvSpPr>
        <p:spPr>
          <a:xfrm>
            <a:off x="8297141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589749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 SMS is sent, then another on return.</a:t>
            </a:r>
            <a:endParaRPr lang="en-US" sz="1200" dirty="0"/>
          </a:p>
        </p:txBody>
      </p:sp>
      <p:pic>
        <p:nvPicPr>
          <p:cNvPr id="22" name="Image 3" descr="/Users/abu/Desktop/Coding/bsj-hostel-management/proposal/phones/wf2-sm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7141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23" name="Text 17"/>
          <p:cNvSpPr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24" name="Text 18">
            <a:hlinkClick r:id="rId5" tooltip=""/>
          </p:cNvPr>
          <p:cNvSpPr/>
          <p:nvPr/>
        </p:nvSpPr>
        <p:spPr>
          <a:xfrm>
            <a:off x="46634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https://bsj-hostel-demo.vercel.app/return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3. Special permission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004614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04614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5" name="Text 3"/>
          <p:cNvSpPr/>
          <p:nvPr/>
        </p:nvSpPr>
        <p:spPr>
          <a:xfrm>
            <a:off x="2004614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97222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late-night or home going.</a:t>
            </a:r>
            <a:endParaRPr lang="en-US" sz="1200" dirty="0"/>
          </a:p>
        </p:txBody>
      </p:sp>
      <p:pic>
        <p:nvPicPr>
          <p:cNvPr id="7" name="Image 0" descr="/Users/abu/Desktop/Coding/bsj-hostel-management/proposal/phones/wf3-typ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614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4102123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02123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0" name="Text 7"/>
          <p:cNvSpPr/>
          <p:nvPr/>
        </p:nvSpPr>
        <p:spPr>
          <a:xfrm>
            <a:off x="4102123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394731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Fills the form and sends it to the warden.</a:t>
            </a:r>
            <a:endParaRPr lang="en-US" sz="1200" dirty="0"/>
          </a:p>
        </p:txBody>
      </p:sp>
      <p:pic>
        <p:nvPicPr>
          <p:cNvPr id="12" name="Image 1" descr="/Users/abu/Desktop/Coding/bsj-hostel-management/proposal/phones/wf3-laten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123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3" name="Text 9"/>
          <p:cNvSpPr/>
          <p:nvPr/>
        </p:nvSpPr>
        <p:spPr>
          <a:xfrm>
            <a:off x="6199632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99632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5" name="Text 11"/>
          <p:cNvSpPr/>
          <p:nvPr/>
        </p:nvSpPr>
        <p:spPr>
          <a:xfrm>
            <a:off x="6199632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92240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or rejects.</a:t>
            </a:r>
            <a:endParaRPr lang="en-US" sz="1200" dirty="0"/>
          </a:p>
        </p:txBody>
      </p:sp>
      <p:pic>
        <p:nvPicPr>
          <p:cNvPr id="17" name="Image 2" descr="/Users/abu/Desktop/Coding/bsj-hostel-management/proposal/phones/wf3-review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8" name="Text 13"/>
          <p:cNvSpPr/>
          <p:nvPr/>
        </p:nvSpPr>
        <p:spPr>
          <a:xfrm>
            <a:off x="8297141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297141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20" name="Text 15"/>
          <p:cNvSpPr/>
          <p:nvPr/>
        </p:nvSpPr>
        <p:spPr>
          <a:xfrm>
            <a:off x="8297141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589749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approved, the same hall pass is used at the gate.</a:t>
            </a:r>
            <a:endParaRPr lang="en-US" sz="1200" dirty="0"/>
          </a:p>
        </p:txBody>
      </p:sp>
      <p:pic>
        <p:nvPicPr>
          <p:cNvPr id="22" name="Image 3" descr="/Users/abu/Desktop/Coding/bsj-hostel-management/proposal/phones/wf3-approv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7141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23" name="Text 17"/>
          <p:cNvSpPr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24" name="Text 18">
            <a:hlinkClick r:id="rId5" tooltip=""/>
          </p:cNvPr>
          <p:cNvSpPr/>
          <p:nvPr/>
        </p:nvSpPr>
        <p:spPr>
          <a:xfrm>
            <a:off x="46634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https://bsj-hostel-demo.vercel.app/permission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16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7F4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4. Gate staff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004614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staff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04614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5" name="Text 3"/>
          <p:cNvSpPr/>
          <p:nvPr/>
        </p:nvSpPr>
        <p:spPr>
          <a:xfrm>
            <a:off x="2004614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97222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C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Scan QR.</a:t>
            </a:r>
            <a:endParaRPr lang="en-US" sz="1200" dirty="0"/>
          </a:p>
        </p:txBody>
      </p:sp>
      <p:pic>
        <p:nvPicPr>
          <p:cNvPr id="7" name="Image 0" descr="/Users/abu/Desktop/Coding/bsj-hostel-management/proposal/phones/wf4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614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4102123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staff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02123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0" name="Text 7"/>
          <p:cNvSpPr/>
          <p:nvPr/>
        </p:nvSpPr>
        <p:spPr>
          <a:xfrm>
            <a:off x="4102123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394731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C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Scans the resident hall pass.</a:t>
            </a:r>
            <a:endParaRPr lang="en-US" sz="1200" dirty="0"/>
          </a:p>
        </p:txBody>
      </p:sp>
      <p:pic>
        <p:nvPicPr>
          <p:cNvPr id="12" name="Image 1" descr="/Users/abu/Desktop/Coding/bsj-hostel-management/proposal/phones/wf4-scann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123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3" name="Text 9"/>
          <p:cNvSpPr/>
          <p:nvPr/>
        </p:nvSpPr>
        <p:spPr>
          <a:xfrm>
            <a:off x="6199632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staff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99632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5" name="Text 11"/>
          <p:cNvSpPr/>
          <p:nvPr/>
        </p:nvSpPr>
        <p:spPr>
          <a:xfrm>
            <a:off x="6199632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92240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C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Exit recorded or Return recorded.</a:t>
            </a:r>
            <a:endParaRPr lang="en-US" sz="1200" dirty="0"/>
          </a:p>
        </p:txBody>
      </p:sp>
      <p:pic>
        <p:nvPicPr>
          <p:cNvPr id="17" name="Image 2" descr="/Users/abu/Desktop/Coding/bsj-hostel-management/proposal/phones/wf4-exi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8" name="Text 13"/>
          <p:cNvSpPr/>
          <p:nvPr/>
        </p:nvSpPr>
        <p:spPr>
          <a:xfrm>
            <a:off x="8297141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C4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staff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297141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20" name="Text 15"/>
          <p:cNvSpPr/>
          <p:nvPr/>
        </p:nvSpPr>
        <p:spPr>
          <a:xfrm>
            <a:off x="8297141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589749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5CE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scan cannot be used, the screen says what to do.</a:t>
            </a:r>
            <a:endParaRPr lang="en-US" sz="1200" dirty="0"/>
          </a:p>
        </p:txBody>
      </p:sp>
      <p:pic>
        <p:nvPicPr>
          <p:cNvPr id="22" name="Image 3" descr="/Users/abu/Desktop/Coding/bsj-hostel-management/proposal/phones/wf4-erro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7141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23" name="Text 17"/>
          <p:cNvSpPr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24" name="Text 18">
            <a:hlinkClick r:id="rId5" tooltip=""/>
          </p:cNvPr>
          <p:cNvSpPr/>
          <p:nvPr/>
        </p:nvSpPr>
        <p:spPr>
          <a:xfrm>
            <a:off x="46634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D7C48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https://bsj-hostel-demo.vercel.app/gate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9AA8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46304"/>
            <a:ext cx="6583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Scenario 5. Warden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2004614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2004614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5" name="Text 3"/>
          <p:cNvSpPr/>
          <p:nvPr/>
        </p:nvSpPr>
        <p:spPr>
          <a:xfrm>
            <a:off x="2004614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297222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hall register.</a:t>
            </a:r>
            <a:endParaRPr lang="en-US" sz="1200" dirty="0"/>
          </a:p>
        </p:txBody>
      </p:sp>
      <p:pic>
        <p:nvPicPr>
          <p:cNvPr id="7" name="Image 0" descr="/Users/abu/Desktop/Coding/bsj-hostel-management/proposal/phones/wf5-das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4614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8" name="Text 5"/>
          <p:cNvSpPr/>
          <p:nvPr/>
        </p:nvSpPr>
        <p:spPr>
          <a:xfrm>
            <a:off x="4102123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102123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0" name="Text 7"/>
          <p:cNvSpPr/>
          <p:nvPr/>
        </p:nvSpPr>
        <p:spPr>
          <a:xfrm>
            <a:off x="4102123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394731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the late list.</a:t>
            </a:r>
            <a:endParaRPr lang="en-US" sz="1200" dirty="0"/>
          </a:p>
        </p:txBody>
      </p:sp>
      <p:pic>
        <p:nvPicPr>
          <p:cNvPr id="12" name="Image 1" descr="/Users/abu/Desktop/Coding/bsj-hostel-management/proposal/phones/wf5-la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2123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3" name="Text 9"/>
          <p:cNvSpPr/>
          <p:nvPr/>
        </p:nvSpPr>
        <p:spPr>
          <a:xfrm>
            <a:off x="6199632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199632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5" name="Text 11"/>
          <p:cNvSpPr/>
          <p:nvPr/>
        </p:nvSpPr>
        <p:spPr>
          <a:xfrm>
            <a:off x="6199632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6492240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 resident record.</a:t>
            </a:r>
            <a:endParaRPr lang="en-US" sz="1200" dirty="0"/>
          </a:p>
        </p:txBody>
      </p:sp>
      <p:pic>
        <p:nvPicPr>
          <p:cNvPr id="17" name="Image 2" descr="/Users/abu/Desktop/Coding/bsj-hostel-management/proposal/phones/wf5-reside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9632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18" name="Text 13"/>
          <p:cNvSpPr/>
          <p:nvPr/>
        </p:nvSpPr>
        <p:spPr>
          <a:xfrm>
            <a:off x="8297141" y="493776"/>
            <a:ext cx="185976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297141" y="713232"/>
            <a:ext cx="219456" cy="219456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20" name="Text 15"/>
          <p:cNvSpPr/>
          <p:nvPr/>
        </p:nvSpPr>
        <p:spPr>
          <a:xfrm>
            <a:off x="8297141" y="7132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8589749" y="694944"/>
            <a:ext cx="1567157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Approves or rejects special permission.</a:t>
            </a:r>
            <a:endParaRPr lang="en-US" sz="1200" dirty="0"/>
          </a:p>
        </p:txBody>
      </p:sp>
      <p:pic>
        <p:nvPicPr>
          <p:cNvPr id="22" name="Image 3" descr="/Users/abu/Desktop/Coding/bsj-hostel-management/proposal/phones/wf5-pen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7141" y="1536192"/>
            <a:ext cx="1859765" cy="3913632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23" name="Text 17"/>
          <p:cNvSpPr/>
          <p:nvPr/>
        </p:nvSpPr>
        <p:spPr>
          <a:xfrm>
            <a:off x="502920" y="65105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24" name="Text 18">
            <a:hlinkClick r:id="rId5" tooltip=""/>
          </p:cNvPr>
          <p:cNvSpPr/>
          <p:nvPr/>
        </p:nvSpPr>
        <p:spPr>
          <a:xfrm>
            <a:off x="4663440" y="6510528"/>
            <a:ext cx="6217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1F4D3A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https://bsj-hostel-demo.vercel.app/warden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C4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02920" y="64008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Emergency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resident can alert the duty warden and the gate, and call from the phone. This is not a leave form.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23774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Skip this if the hall does not want it in the first version.</a:t>
            </a:r>
            <a:endParaRPr lang="en-US" sz="1600" dirty="0"/>
          </a:p>
        </p:txBody>
      </p:sp>
      <p:pic>
        <p:nvPicPr>
          <p:cNvPr id="6" name="Image 0" descr="/Users/abu/Desktop/Coding/bsj-hostel-management/proposal/phones/wf6-scre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457200"/>
            <a:ext cx="2780957" cy="5852160"/>
          </a:xfrm>
          <a:prstGeom prst="rect">
            <a:avLst/>
          </a:prstGeom>
          <a:effectLst>
            <a:outerShdw sx="100000" sy="100000" kx="0" ky="0" algn="bl" rotWithShape="0" blurRad="203200" dist="76200" dir="8100000">
              <a:srgbClr val="000000">
                <a:alpha val="22000"/>
              </a:srgbClr>
            </a:outerShdw>
          </a:effectLst>
        </p:spPr>
      </p:pic>
      <p:sp>
        <p:nvSpPr>
          <p:cNvPr id="7" name="Text 4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47472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build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078992"/>
            <a:ext cx="347472" cy="347472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07899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33272" y="100584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outing: destination, return time, scan at the gate. No special permission.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02920" y="1792224"/>
            <a:ext cx="347472" cy="347472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792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33272" y="171907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Return, including late return and parent SMS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02920" y="2505456"/>
            <a:ext cx="347472" cy="347472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5054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33272" y="2432304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permission: late-night and home going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02920" y="3218688"/>
            <a:ext cx="347472" cy="347472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32186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33272" y="3145536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scanning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02920" y="3931920"/>
            <a:ext cx="347472" cy="347472"/>
          </a:xfrm>
          <a:prstGeom prst="ellipse">
            <a:avLst/>
          </a:prstGeom>
          <a:solidFill>
            <a:srgbClr val="1F4D3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9319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4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33272" y="3858768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Warden register: inside, outside, late, pending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02920" y="470916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emergency contacts on the resident phone.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11155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426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cost (estimate)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548640"/>
            <a:ext cx="11155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for 400 residents and 10 admins. iPhone and Android app. Developer cost to be confirmed.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877824"/>
          <a:ext cx="11155680" cy="914400"/>
        </p:xfrm>
        <a:graphic>
          <a:graphicData uri="http://schemas.openxmlformats.org/drawingml/2006/table">
            <a:tbl>
              <a:tblPr/>
              <a:tblGrid>
                <a:gridCol w="7863840"/>
                <a:gridCol w="329184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7F4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200" b="1" dirty="0">
                          <a:solidFill>
                            <a:srgbClr val="F7F4E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D3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cost, one-time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confirmed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India VPS, 2 GB, about ₹500 a month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₹6,000 each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SMS, late returns only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₹2,000 each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Store, Apple Developer $99 a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₹8,500 each year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 Store, Google $25 once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300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₹2,100 in year 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total with Apple and Google accounts, year 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₹18,600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E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Estimated total with Apple and Google accounts, each year after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E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142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₹16,500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B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DE8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767328"/>
            <a:ext cx="11155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42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personal Apple and Google accounts, same as the ICACON Companion app, App Store and Play Store are ₹0. Running cost is then ₹8,000 a year.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02920" y="4187952"/>
            <a:ext cx="11155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VPS: one 2 GB server in an Indian data centre (Mumbai or Bangalore) is about ₹500 a month, so ₹6,000 a year. It runs the app backend, the database, and a nightly backup. 400 residents and 10 admins fit on this size.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4718304"/>
            <a:ext cx="11155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5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SMS: only if a resident is late. Two texts: one when grace ends, one when they return. About 8 late returns a night × 250 term days × 2 texts ≈ 4,000 SMS a year. Indian transactional SMS is about ₹0.20 each, about ₹800. We estimate ₹2,000 so a busier year still fits.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6510528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Begum Sultan Jahan Hall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1018520" y="651052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A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Begum Sultan Jahan Hall — Hostel Management App Proposal</dc:title>
  <dc:subject>Hostel management app proposal for Aligarh Muslim University</dc:subject>
  <dc:creator>Begum Sultan Jahan Hall</dc:creator>
  <cp:lastModifiedBy>Begum Sultan Jahan Hall</cp:lastModifiedBy>
  <cp:revision>1</cp:revision>
  <dcterms:created xsi:type="dcterms:W3CDTF">2026-09-15T20:56:23Z</dcterms:created>
  <dcterms:modified xsi:type="dcterms:W3CDTF">2026-09-15T20:56:23Z</dcterms:modified>
</cp:coreProperties>
</file>